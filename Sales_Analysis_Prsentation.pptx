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TC Avant Garde Gothic" charset="1" panose="020B0502020202020204"/>
      <p:regular r:id="rId21"/>
    </p:embeddedFont>
    <p:embeddedFont>
      <p:font typeface="TT Fors" charset="1" panose="020B000303000102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Regional Sales Performance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SALES INSIGHTS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A9C0D9"/>
                </a:solidFill>
                <a:latin typeface="TT Fors"/>
                <a:ea typeface="TT Fors"/>
                <a:cs typeface="TT Fors"/>
                <a:sym typeface="TT Fors"/>
              </a:rPr>
              <a:t>Prepared by: Chayan Saha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394621" y="582471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Executive Summary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A6A9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insights from the sales analysis report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The analysis includes a comprehensive dataset comprising sales, customers, products, regions, and budget information from 2014 to 2018.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Multi-Sheet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Our main goal is to identify revenue drivers, seasonal patterns, and profit behavior while addressing any performance gaps in sales.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Objective Insights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The findings reveal that sales are highly concentrated in a few states and products, indicating potential areas for strategic improvement.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Results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Dataset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It features multiple years of transaction-level sales data, ensuring a robust foundation for analysis and strategic insights.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Volume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The dataset consists of six sheets that provide comprehensive insights into various aspects of sales and customer data.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Number of Sheets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All information is structured in a tabular format, allowing for easy manipulation and analysis using data processing tools.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Type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9C0D9"/>
                  </a:solidFill>
                  <a:latin typeface="TT Fors"/>
                  <a:ea typeface="TT Fors"/>
                  <a:cs typeface="TT Fors"/>
                  <a:sym typeface="TT Fors"/>
                </a:rPr>
                <a:t>The dataset encompasses revenue, pricing, customer details, geography, and budgeting, providing a holistic view of sales performance.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9C0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Coverage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Preparation Workflow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4192271"/>
            <a:ext cx="11201400" cy="363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Loaded all sheets with pd.read_excel(..., sheet_name=None)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Cleaned + standardized column names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Converted orderdate → datetime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Engineered features: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order_month, order_month_name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month_period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= unit_price × quantity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Merged 5 datasets into a Master Sales Dataset</a:t>
            </a:r>
          </a:p>
          <a:p>
            <a:pPr algn="l" marL="604516" indent="-302258" lvl="1">
              <a:lnSpc>
                <a:spcPts val="2799"/>
              </a:lnSpc>
              <a:buFont typeface="Arial"/>
              <a:buChar char="•"/>
            </a:pPr>
            <a:r>
              <a:rPr lang="en-US" sz="2799" spc="-83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Insert Diagram: Data Cleaning Flowchart</a:t>
            </a:r>
          </a:p>
          <a:p>
            <a:pPr algn="l" marL="0" indent="0" lvl="0">
              <a:lnSpc>
                <a:spcPts val="30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Mon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thly Sales Trend (2014–2018)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032250"/>
            <a:ext cx="11201400" cy="371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Sales show noticeable seasonal fluctuations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Consistent peaks observed in: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March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August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December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Minor recurring uplift in May–June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2017 anomaly: Revenue dip of approx. $21.2M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Insert Figure: Monthly Sales Line Plot</a:t>
            </a:r>
          </a:p>
          <a:p>
            <a:pPr algn="l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94621" y="7466345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657225"/>
            <a:ext cx="11201400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areto Analysis: Revenue Concentration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5007" y="5007618"/>
            <a:ext cx="11201400" cy="335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Top 5 products contribute ~80% of tot</a:t>
            </a: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 revenue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Strong evidence of the 80/20 rule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Most products have very low contribution beyond the top tier</a:t>
            </a:r>
          </a:p>
          <a:p>
            <a:pPr algn="l" marL="690874" indent="-345437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Insert Figure: Top 10 Product Revenue Bar Chart</a:t>
            </a:r>
          </a:p>
          <a:p>
            <a:pPr algn="l" marL="0" indent="0" lvl="0">
              <a:lnSpc>
                <a:spcPts val="3199"/>
              </a:lnSpc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Implication: Inventory, marketing &amp; pricing must focus on the top revenue drivers.</a:t>
            </a:r>
          </a:p>
          <a:p>
            <a:pPr algn="l" marL="0" indent="0" lvl="0">
              <a:lnSpc>
                <a:spcPts val="36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roduct Profitability Insight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86416"/>
            <a:ext cx="11130558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Profit margins vary between 18% and 60%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Horizontal banding in scatter plot indicates: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Standardized tiered pricing strategy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Pricing likely based on category, not cost variability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Insert Figure: Profit Margin Scatter Plot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89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Recommendation: Expand high-margin pricing to mid-tier items.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Channel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20517" y="4077653"/>
            <a:ext cx="13630375" cy="254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3299" spc="-98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Wholesale/Distributor = Highest volume contributor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3299" spc="-98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Retail/E-commerce = Highest margin per unit, but lower overall revenue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3299" spc="-98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 dependence on one channel -&gt; risk concentration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3299" spc="-98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Insert Figure: Sales by Channel Pie Chart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3299" spc="-98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Recommendation: Strengthen e-commerce for margin improvement.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866757" y="7466345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Customer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Segmentation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085259"/>
            <a:ext cx="12992596" cy="394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Customers classified into: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</a:p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Premium High-Value: Frequent purchases, highest lifetime value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Mid-Value: Medium AOV, strong upsell potential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Low-Value: Infrequent or one-time buyers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Insert Figure: Top Customers Revenue</a:t>
            </a:r>
          </a:p>
          <a:p>
            <a:pPr algn="l">
              <a:lnSpc>
                <a:spcPts val="3399"/>
              </a:lnSpc>
              <a:spcBef>
                <a:spcPct val="0"/>
              </a:spcBef>
            </a:pPr>
          </a:p>
          <a:p>
            <a:pPr algn="l">
              <a:lnSpc>
                <a:spcPts val="3399"/>
              </a:lnSpc>
              <a:spcBef>
                <a:spcPct val="0"/>
              </a:spcBef>
            </a:pPr>
          </a:p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3399" spc="-101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Action: Loyalty programs + targeted ads for mid-value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Regional Revenue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90405" y="4102735"/>
            <a:ext cx="13297595" cy="359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3499"/>
              </a:lnSpc>
              <a:buFont typeface="Arial"/>
              <a:buChar char="•"/>
            </a:pPr>
            <a:r>
              <a:rPr lang="en-US" sz="3499" spc="-104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States such as California, Texas, New York show the highest sales</a:t>
            </a:r>
          </a:p>
          <a:p>
            <a:pPr algn="l" marL="755649" indent="-377824" lvl="1">
              <a:lnSpc>
                <a:spcPts val="3499"/>
              </a:lnSpc>
              <a:buFont typeface="Arial"/>
              <a:buChar char="•"/>
            </a:pPr>
            <a:r>
              <a:rPr lang="en-US" sz="3499" spc="-104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Several states underperform → potential high-growth market gaps</a:t>
            </a:r>
          </a:p>
          <a:p>
            <a:pPr algn="l" marL="755649" indent="-377824" lvl="1">
              <a:lnSpc>
                <a:spcPts val="3499"/>
              </a:lnSpc>
              <a:buFont typeface="Arial"/>
              <a:buChar char="•"/>
            </a:pPr>
            <a:r>
              <a:rPr lang="en-US" sz="3499" spc="-104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heavily concentrated geographically</a:t>
            </a:r>
          </a:p>
          <a:p>
            <a:pPr algn="l" marL="755649" indent="-377824" lvl="1">
              <a:lnSpc>
                <a:spcPts val="3499"/>
              </a:lnSpc>
              <a:buFont typeface="Arial"/>
              <a:buChar char="•"/>
            </a:pPr>
            <a:r>
              <a:rPr lang="en-US" sz="3499" spc="-104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Insert Figure: State Revenue Map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3499" spc="-104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Risk: Overdependence on top states.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063954" y="8059614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Budget vs Actual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152900"/>
            <a:ext cx="15779948" cy="248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Some regions exceeded budget expectations</a:t>
            </a:r>
          </a:p>
          <a:p>
            <a:pPr algn="l" marL="690879" indent="-345439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Others consistently failed to meet targets</a:t>
            </a:r>
          </a:p>
          <a:p>
            <a:pPr algn="l" marL="690879" indent="-345439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Highlights strategic misalignment between budgeting &amp; actual capability</a:t>
            </a:r>
          </a:p>
          <a:p>
            <a:pPr algn="l" marL="690879" indent="-345439" lvl="1">
              <a:lnSpc>
                <a:spcPts val="3199"/>
              </a:lnSpc>
              <a:buFont typeface="Arial"/>
              <a:buChar char="•"/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Insert Figure: Budget vs Actual Bar Chart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</a:p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3199" spc="-95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Cause Indicators: Weak customer base, low product diversity, inadequate marketing.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Seasonal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Trend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779938"/>
            <a:ext cx="10481470" cy="289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Mild but consistent rise in May–June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End-of-year spike (December) signals holiday impact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Sharp decline at early 2017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</a:p>
          <a:p>
            <a:pPr algn="l">
              <a:lnSpc>
                <a:spcPts val="3200"/>
              </a:lnSpc>
              <a:spcBef>
                <a:spcPct val="0"/>
              </a:spcBef>
            </a:pP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Interpretation: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Marketing and inventory should be scaled seasonally.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383172" y="7663543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Summary of</a:t>
            </a:r>
            <a:r>
              <a:rPr lang="en-US" sz="8000" spc="-240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2826817"/>
            <a:ext cx="10349012" cy="569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Heavy dependency on few states/products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Clear presence of 80/20 revenue dominance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 channel imbalance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E-commerce underutilized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Strong tiered pricing pattern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Seasonal revenue fluctuations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2017 revenue anomaly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Major regional revenue gaps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Budget misalignment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High-margin products under-leveraged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Customer segments unevenly distributed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High-value customers drive majority revenue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Several low-performing SKUs dragging performance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A9C0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Medium-potential states remain under-tapped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3314759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Strategic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35505" y="2893060"/>
            <a:ext cx="10170616" cy="569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Product Strategy: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Prioritize top SKUs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Review or discontinue non-performers</a:t>
            </a:r>
          </a:p>
          <a:p>
            <a:pPr algn="l">
              <a:lnSpc>
                <a:spcPts val="3200"/>
              </a:lnSpc>
            </a:pPr>
          </a:p>
          <a:p>
            <a:pPr algn="l">
              <a:lnSpc>
                <a:spcPts val="3200"/>
              </a:lnSpc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Regional Strategy: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Invest in medium-potential states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Reduce over-dependence on California</a:t>
            </a:r>
          </a:p>
          <a:p>
            <a:pPr algn="l">
              <a:lnSpc>
                <a:spcPts val="3200"/>
              </a:lnSpc>
            </a:pPr>
          </a:p>
          <a:p>
            <a:pPr algn="l">
              <a:lnSpc>
                <a:spcPts val="3200"/>
              </a:lnSpc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Pricing Strategy: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Apply tiered pricing insights to mid-margin products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Channel Strategy</a:t>
            </a:r>
          </a:p>
          <a:p>
            <a:pPr algn="l">
              <a:lnSpc>
                <a:spcPts val="3200"/>
              </a:lnSpc>
            </a:pPr>
          </a:p>
          <a:p>
            <a:pPr algn="l">
              <a:lnSpc>
                <a:spcPts val="3200"/>
              </a:lnSpc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Boost e-commerce contribution:</a:t>
            </a: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Reduce reliance on wholesale-only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866757" y="7466345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6029" y="1405258"/>
            <a:ext cx="5167412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17008"/>
            <a:ext cx="13690005" cy="369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business has substantial revenue but high concentration risk</a:t>
            </a:r>
          </a:p>
          <a:p>
            <a:pPr algn="l">
              <a:lnSpc>
                <a:spcPts val="3200"/>
              </a:lnSpc>
            </a:pP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Optimizing product/pricing structure can improve profitability</a:t>
            </a:r>
          </a:p>
          <a:p>
            <a:pPr algn="l">
              <a:lnSpc>
                <a:spcPts val="3200"/>
              </a:lnSpc>
            </a:pP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Significant growth opportunity in underperforming regions</a:t>
            </a:r>
          </a:p>
          <a:p>
            <a:pPr algn="l">
              <a:lnSpc>
                <a:spcPts val="3200"/>
              </a:lnSpc>
            </a:pP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Budget alignment &amp; strategic marketing can close performance gaps</a:t>
            </a:r>
          </a:p>
          <a:p>
            <a:pPr algn="l">
              <a:lnSpc>
                <a:spcPts val="3200"/>
              </a:lnSpc>
            </a:pPr>
          </a:p>
          <a:p>
            <a:pPr algn="l" marL="690881" indent="-345440" lvl="1">
              <a:lnSpc>
                <a:spcPts val="3200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Company is positioned for strong future growth with refined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DAG6nPTJ7XE</dc:identifier>
  <dcterms:modified xsi:type="dcterms:W3CDTF">2011-08-01T06:04:30Z</dcterms:modified>
  <cp:revision>1</cp:revision>
  <dc:title>Non Text Magic Studio Magic Design for Presentations L&amp;P</dc:title>
</cp:coreProperties>
</file>